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49" r:id="rId1"/>
  </p:sldMasterIdLst>
  <p:notesMasterIdLst>
    <p:notesMasterId r:id="rId24"/>
  </p:notesMasterIdLst>
  <p:sldIdLst>
    <p:sldId id="256" r:id="rId2"/>
    <p:sldId id="257" r:id="rId3"/>
    <p:sldId id="259" r:id="rId4"/>
    <p:sldId id="287" r:id="rId5"/>
    <p:sldId id="260" r:id="rId6"/>
    <p:sldId id="273" r:id="rId7"/>
    <p:sldId id="264" r:id="rId8"/>
    <p:sldId id="277" r:id="rId9"/>
    <p:sldId id="276" r:id="rId10"/>
    <p:sldId id="280" r:id="rId11"/>
    <p:sldId id="281" r:id="rId12"/>
    <p:sldId id="282" r:id="rId13"/>
    <p:sldId id="283" r:id="rId14"/>
    <p:sldId id="279" r:id="rId15"/>
    <p:sldId id="274" r:id="rId16"/>
    <p:sldId id="284" r:id="rId17"/>
    <p:sldId id="285" r:id="rId18"/>
    <p:sldId id="286" r:id="rId19"/>
    <p:sldId id="261" r:id="rId20"/>
    <p:sldId id="275" r:id="rId21"/>
    <p:sldId id="270" r:id="rId22"/>
    <p:sldId id="271" r:id="rId23"/>
  </p:sldIdLst>
  <p:sldSz cx="12192000" cy="6858000"/>
  <p:notesSz cx="6858000" cy="9144000"/>
  <p:defaultTextStyle>
    <a:defPPr>
      <a:defRPr lang="aa-E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C6D3FB-1549-436D-A047-5B4CC933643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6481B-712C-4039-9071-29ECFC6DB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77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06481B-712C-4039-9071-29ECFC6DB0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057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06481B-712C-4039-9071-29ECFC6DB04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37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789D-D095-463C-BF11-BF8147785C07}" type="datetime1">
              <a:rPr lang="aa-ET" smtClean="0"/>
              <a:t>06/18/2026</a:t>
            </a:fld>
            <a:endParaRPr lang="aa-E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aa-ET" smtClean="0"/>
              <a:t>‹#›</a:t>
            </a:fld>
            <a:endParaRPr lang="aa-ET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32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B7F9-C0B0-42E5-9F29-3A60B23F6B4C}" type="datetime1">
              <a:rPr lang="aa-ET" smtClean="0"/>
              <a:t>06/18/2026</a:t>
            </a:fld>
            <a:endParaRPr lang="aa-E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aa-ET" smtClean="0"/>
              <a:t>‹#›</a:t>
            </a:fld>
            <a:endParaRPr lang="aa-ET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88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3EAB4-1D24-4315-A313-752C76D4F013}" type="datetime1">
              <a:rPr lang="aa-ET" smtClean="0"/>
              <a:t>06/18/2026</a:t>
            </a:fld>
            <a:endParaRPr lang="aa-E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aa-ET" smtClean="0"/>
              <a:t>‹#›</a:t>
            </a:fld>
            <a:endParaRPr lang="aa-ET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035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DEE0-258F-4ACD-A132-B346C73927D3}" type="datetime1">
              <a:rPr lang="aa-ET" smtClean="0"/>
              <a:t>06/18/2026</a:t>
            </a:fld>
            <a:endParaRPr lang="aa-E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aa-ET" smtClean="0"/>
              <a:t>‹#›</a:t>
            </a:fld>
            <a:endParaRPr lang="aa-ET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54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567CF-CEA3-4609-9C51-A95B7F983394}" type="datetime1">
              <a:rPr lang="aa-ET" smtClean="0"/>
              <a:t>06/18/2026</a:t>
            </a:fld>
            <a:endParaRPr lang="aa-E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aa-ET" smtClean="0"/>
              <a:t>‹#›</a:t>
            </a:fld>
            <a:endParaRPr lang="aa-ET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559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CEE20-76D7-4356-9158-B778C4D9DE9F}" type="datetime1">
              <a:rPr lang="aa-ET" smtClean="0"/>
              <a:t>06/18/2026</a:t>
            </a:fld>
            <a:endParaRPr lang="aa-E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aa-ET" smtClean="0"/>
              <a:t>‹#›</a:t>
            </a:fld>
            <a:endParaRPr lang="aa-ET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60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61A1A-E0FE-40D5-9C22-3F6004F7FF35}" type="datetime1">
              <a:rPr lang="aa-ET" smtClean="0"/>
              <a:t>06/18/2026</a:t>
            </a:fld>
            <a:endParaRPr lang="aa-E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aa-ET" smtClean="0"/>
              <a:t>‹#›</a:t>
            </a:fld>
            <a:endParaRPr lang="aa-ET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859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3D138-81AF-4169-B65C-F0130CE0C0BB}" type="datetime1">
              <a:rPr lang="aa-ET" smtClean="0"/>
              <a:t>06/18/2026</a:t>
            </a:fld>
            <a:endParaRPr lang="aa-E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aa-ET" smtClean="0"/>
              <a:t>‹#›</a:t>
            </a:fld>
            <a:endParaRPr lang="aa-ET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927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6FB64-BF39-4AEC-8962-9DBA3E698582}" type="datetime1">
              <a:rPr lang="aa-ET" smtClean="0"/>
              <a:t>06/18/2026</a:t>
            </a:fld>
            <a:endParaRPr lang="aa-E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aa-ET" smtClean="0"/>
              <a:t>‹#›</a:t>
            </a:fld>
            <a:endParaRPr lang="aa-ET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39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B4206-9FEA-4284-AAB3-9D4986ACBF8B}" type="datetime1">
              <a:rPr lang="aa-ET" smtClean="0"/>
              <a:t>06/18/2026</a:t>
            </a:fld>
            <a:endParaRPr lang="aa-E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aa-ET" smtClean="0"/>
              <a:t>‹#›</a:t>
            </a:fld>
            <a:endParaRPr lang="aa-ET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953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EC29E-4FB1-48F3-98F4-E30F3ABCD1A3}" type="datetime1">
              <a:rPr lang="aa-ET" smtClean="0"/>
              <a:t>06/18/2026</a:t>
            </a:fld>
            <a:endParaRPr lang="aa-E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aa-ET" smtClean="0"/>
              <a:t>‹#›</a:t>
            </a:fld>
            <a:endParaRPr lang="aa-ET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882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25935-2235-460E-B7CB-3E3CC427A050}" type="datetime1">
              <a:rPr lang="aa-ET" smtClean="0"/>
              <a:t>06/18/2026</a:t>
            </a:fld>
            <a:endParaRPr lang="aa-E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a-E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DB1F3-C295-4D7C-99AC-960BC1AA1C64}" type="slidenum">
              <a:rPr lang="aa-ET" smtClean="0"/>
              <a:t>‹#›</a:t>
            </a:fld>
            <a:endParaRPr lang="aa-ET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81579" y="13493"/>
            <a:ext cx="799307" cy="7993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2" y="13493"/>
            <a:ext cx="2605031" cy="75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996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A74DC-69A0-4056-B7A4-5D17E7E88F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2737"/>
            <a:ext cx="9144000" cy="958655"/>
          </a:xfrm>
        </p:spPr>
        <p:txBody>
          <a:bodyPr/>
          <a:lstStyle/>
          <a:p>
            <a:pPr algn="ctr"/>
            <a:r>
              <a:rPr lang="en-US" dirty="0"/>
              <a:t>Project Title </a:t>
            </a:r>
            <a:endParaRPr lang="aa-ET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909479"/>
              </p:ext>
            </p:extLst>
          </p:nvPr>
        </p:nvGraphicFramePr>
        <p:xfrm>
          <a:off x="2000762" y="3429000"/>
          <a:ext cx="8765818" cy="28019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7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8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98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408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 Black" panose="020B0A04020102020204" pitchFamily="34" charset="0"/>
                        </a:rPr>
                        <a:t>Sr. #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 Black" panose="020B0A04020102020204" pitchFamily="34" charset="0"/>
                        </a:rPr>
                        <a:t>Registration#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 Black" panose="020B0A0402010202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 Black" panose="020B0A04020102020204" pitchFamily="34" charset="0"/>
                        </a:rPr>
                        <a:t>Name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8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 Black" panose="020B0A04020102020204" pitchFamily="34" charset="0"/>
                        </a:rPr>
                        <a:t>1</a:t>
                      </a:r>
                      <a:endParaRPr lang="en-US" sz="2000" b="1">
                        <a:effectLst/>
                        <a:latin typeface="Arial Black" panose="020B0A040201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 Black" panose="020B0A04020102020204" pitchFamily="34" charset="0"/>
                        </a:rPr>
                        <a:t> L1F22BSSE0286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 Black" panose="020B0A04020102020204" pitchFamily="34" charset="0"/>
                        </a:rPr>
                        <a:t> NABEEL IJAZ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8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 Black" panose="020B0A04020102020204" pitchFamily="34" charset="0"/>
                        </a:rPr>
                        <a:t>2</a:t>
                      </a:r>
                      <a:endParaRPr lang="en-US" sz="2000" b="1">
                        <a:effectLst/>
                        <a:latin typeface="Arial Black" panose="020B0A040201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 Black" panose="020B0A04020102020204" pitchFamily="34" charset="0"/>
                        </a:rPr>
                        <a:t> L1F22BSSE02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 Black" panose="020B0A04020102020204" pitchFamily="34" charset="0"/>
                        </a:rPr>
                        <a:t> EHSAN SHAHID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8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 Black" panose="020B0A04020102020204" pitchFamily="34" charset="0"/>
                        </a:rPr>
                        <a:t>3</a:t>
                      </a:r>
                      <a:endParaRPr lang="en-US" sz="2000" b="1">
                        <a:effectLst/>
                        <a:latin typeface="Arial Black" panose="020B0A040201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 Black" panose="020B0A04020102020204" pitchFamily="34" charset="0"/>
                        </a:rPr>
                        <a:t> L1S23BSSE100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 Black" panose="020B0A04020102020204" pitchFamily="34" charset="0"/>
                        </a:rPr>
                        <a:t> UMER AKRAM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8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 Black" panose="020B0A040201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 Black" panose="020B0A04020102020204" pitchFamily="34" charset="0"/>
                          <a:cs typeface="Times New Roman" panose="02020603050405020304" pitchFamily="18" charset="0"/>
                        </a:rPr>
                        <a:t> L1S23BSSE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 Black" panose="020B0A04020102020204" pitchFamily="34" charset="0"/>
                          <a:cs typeface="Times New Roman" panose="02020603050405020304" pitchFamily="18" charset="0"/>
                        </a:rPr>
                        <a:t> USAMA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5461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630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5AF1-9725-434A-9B16-D0E68D15C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Project Team Introduction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24DFA-BAC1-4F66-AFB7-8F55CE75B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lvl="1"/>
            <a:endParaRPr lang="aa-ET" dirty="0"/>
          </a:p>
          <a:p>
            <a:pPr lvl="1"/>
            <a:endParaRPr lang="aa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F3DB1F3-C295-4D7C-99AC-960BC1AA1C64}" type="slidenum">
              <a:rPr lang="aa-ET" smtClean="0"/>
              <a:pPr/>
              <a:t>2</a:t>
            </a:fld>
            <a:endParaRPr lang="aa-ET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59D2C4-4605-8069-D75C-6243CE293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327085"/>
              </p:ext>
            </p:extLst>
          </p:nvPr>
        </p:nvGraphicFramePr>
        <p:xfrm>
          <a:off x="1749989" y="1690686"/>
          <a:ext cx="8128000" cy="2462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66135387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70597601"/>
                    </a:ext>
                  </a:extLst>
                </a:gridCol>
              </a:tblGrid>
              <a:tr h="384331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Member Name</a:t>
                      </a:r>
                      <a:endParaRPr lang="en-US" sz="1400" b="1" kern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Roles</a:t>
                      </a:r>
                      <a:endParaRPr lang="en-US" sz="1400" b="1" kern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 anchor="ctr"/>
                </a:tc>
                <a:extLst>
                  <a:ext uri="{0D108BD9-81ED-4DB2-BD59-A6C34878D82A}">
                    <a16:rowId xmlns:a16="http://schemas.microsoft.com/office/drawing/2014/main" val="69150408"/>
                  </a:ext>
                </a:extLst>
              </a:tr>
              <a:tr h="51955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Nabeel Ijaz</a:t>
                      </a:r>
                      <a:endParaRPr lang="en-US" sz="1400" b="1" kern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Backend Development</a:t>
                      </a:r>
                      <a:endParaRPr lang="en-US" sz="1400" b="1" kern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/>
                </a:tc>
                <a:extLst>
                  <a:ext uri="{0D108BD9-81ED-4DB2-BD59-A6C34878D82A}">
                    <a16:rowId xmlns:a16="http://schemas.microsoft.com/office/drawing/2014/main" val="632571939"/>
                  </a:ext>
                </a:extLst>
              </a:tr>
              <a:tr h="51955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Umer Akram</a:t>
                      </a:r>
                      <a:endParaRPr lang="en-US" sz="1400" b="1" kern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Web Development</a:t>
                      </a:r>
                      <a:endParaRPr lang="en-US" sz="1400" b="1" kern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/>
                </a:tc>
                <a:extLst>
                  <a:ext uri="{0D108BD9-81ED-4DB2-BD59-A6C34878D82A}">
                    <a16:rowId xmlns:a16="http://schemas.microsoft.com/office/drawing/2014/main" val="2668206489"/>
                  </a:ext>
                </a:extLst>
              </a:tr>
              <a:tr h="51955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Usama</a:t>
                      </a:r>
                      <a:endParaRPr lang="en-US" sz="1400" b="1" kern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Design and Testing</a:t>
                      </a:r>
                      <a:endParaRPr lang="en-US" sz="1400" b="1" kern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/>
                </a:tc>
                <a:extLst>
                  <a:ext uri="{0D108BD9-81ED-4DB2-BD59-A6C34878D82A}">
                    <a16:rowId xmlns:a16="http://schemas.microsoft.com/office/drawing/2014/main" val="3743283198"/>
                  </a:ext>
                </a:extLst>
              </a:tr>
              <a:tr h="51955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Ehsan Shahid</a:t>
                      </a:r>
                      <a:endParaRPr lang="en-US" sz="1400" b="1" kern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Mobile App Development</a:t>
                      </a:r>
                      <a:endParaRPr lang="en-US" sz="1400" b="1" kern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/>
                </a:tc>
                <a:extLst>
                  <a:ext uri="{0D108BD9-81ED-4DB2-BD59-A6C34878D82A}">
                    <a16:rowId xmlns:a16="http://schemas.microsoft.com/office/drawing/2014/main" val="2406518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140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2FDC4-0A13-49A2-AD33-2CC2B2C50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Introduction and Background of the Project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BAD15-1AF9-4713-9163-7CEC37A7E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Rationale:</a:t>
            </a:r>
          </a:p>
          <a:p>
            <a:pPr lvl="1" algn="just"/>
            <a:r>
              <a:rPr lang="en-US" sz="2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Pet owners in Pakistan face significant challenges managing pet-related activities due to fragmented and unverified sources.</a:t>
            </a:r>
          </a:p>
          <a:p>
            <a:pPr lvl="1" algn="just"/>
            <a:r>
              <a:rPr lang="en-US" sz="2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reliance on scattered Facebook groups, WhatsApp chats, and unconnected websites leads to incomplete information, lack of trust, and inefficiency.</a:t>
            </a:r>
          </a:p>
          <a:p>
            <a:pPr lvl="1" algn="just"/>
            <a:r>
              <a:rPr lang="en-US" sz="2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issues include: difficulty selling or adopting pets safely, arranging temporary shelter, purchasing products, and tracking vaccination schedules.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Understanding &amp; Evolution:</a:t>
            </a:r>
          </a:p>
          <a:p>
            <a:pPr lvl="1"/>
            <a:r>
              <a:rPr lang="en-US" sz="21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PetLink</a:t>
            </a:r>
            <a:r>
              <a:rPr lang="en-US" sz="2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a cross-platform web and mobile application designed to serve as a centralized digital solution for all pet-related needs.</a:t>
            </a:r>
          </a:p>
          <a:p>
            <a:pPr lvl="1"/>
            <a:r>
              <a:rPr lang="en-US" sz="2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aims to improve pet welfare, enhance trust and transparency in pet trading, and provide convenience to users.</a:t>
            </a:r>
          </a:p>
          <a:p>
            <a:pPr lvl="1"/>
            <a:r>
              <a:rPr lang="en-US" sz="21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Evolution:</a:t>
            </a:r>
            <a:r>
              <a:rPr lang="en-US" sz="2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project started with identifying core user problems through surveys. This led to prioritizing features like health record management, automated reminders, and a verified marketplace, which evolved from a simple listing system to a comprehensive platform with integrated e-commerce, AI chatbot, and location services.</a:t>
            </a:r>
          </a:p>
          <a:p>
            <a:pPr marL="0" indent="0">
              <a:buNone/>
            </a:pPr>
            <a:br>
              <a:rPr lang="en-US" dirty="0"/>
            </a:br>
            <a:endParaRPr lang="aa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F3DB1F3-C295-4D7C-99AC-960BC1AA1C64}" type="slidenum">
              <a:rPr lang="aa-ET" smtClean="0"/>
              <a:pPr/>
              <a:t>3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583709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2FDC4-0A13-49A2-AD33-2CC2B2C50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Introduction and Background of the Project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BAD15-1AF9-4713-9163-7CEC37A7E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l"/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Stakeholders and Roles: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Owner: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Supervisor.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Scrum Master: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Nabeel Ijaz (Manages sprint execution and removes impediments).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Team: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Nabeel, Ehsan, Umar, Usama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Users: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Pet Owners, Adopters, Sellers, Shelter Service Providers.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Platform Admin: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Manages platform content, resolves disputes, and manages product listings and mange users.</a:t>
            </a:r>
          </a:p>
          <a:p>
            <a:pPr marL="0" indent="0">
              <a:buNone/>
            </a:pPr>
            <a:br>
              <a:rPr lang="en-US" dirty="0"/>
            </a:br>
            <a:endParaRPr lang="aa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F3DB1F3-C295-4D7C-99AC-960BC1AA1C64}" type="slidenum">
              <a:rPr lang="aa-ET" smtClean="0"/>
              <a:pPr/>
              <a:t>4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429902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B95CB-1E7B-4A23-B711-BB7E723B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Agile Framework Setup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90202-6FF9-4250-9559-CA167356D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1"/>
            <a:r>
              <a:rPr lang="en-US" dirty="0"/>
              <a:t>List your important/top epics and how are the stories mapped with them and ranked in the product backlog.</a:t>
            </a:r>
          </a:p>
          <a:p>
            <a:pPr lvl="1"/>
            <a:r>
              <a:rPr lang="en-US" dirty="0"/>
              <a:t>Identify the main user stories your project aims to capture and implement in current sprint.</a:t>
            </a:r>
          </a:p>
          <a:p>
            <a:pPr lvl="1"/>
            <a:r>
              <a:rPr lang="en-US" dirty="0"/>
              <a:t>Mention </a:t>
            </a:r>
          </a:p>
          <a:p>
            <a:pPr lvl="2"/>
            <a:r>
              <a:rPr lang="en-US" dirty="0"/>
              <a:t>Selected user stories and acceptance criteria met </a:t>
            </a:r>
            <a:endParaRPr lang="en-GB" dirty="0"/>
          </a:p>
          <a:p>
            <a:pPr lvl="2"/>
            <a:r>
              <a:rPr lang="en-US" dirty="0"/>
              <a:t>Sprint goals </a:t>
            </a:r>
            <a:endParaRPr lang="en-GB" dirty="0"/>
          </a:p>
          <a:p>
            <a:pPr lvl="1"/>
            <a:endParaRPr lang="en-US" dirty="0"/>
          </a:p>
          <a:p>
            <a:pPr lvl="1"/>
            <a:endParaRPr lang="aa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F3DB1F3-C295-4D7C-99AC-960BC1AA1C64}" type="slidenum">
              <a:rPr lang="aa-ET" smtClean="0"/>
              <a:pPr/>
              <a:t>5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076511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CD46C-CD8A-39FE-049E-7A277DC01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Sprint Planning &amp; Sprint Backlog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A6791-FD20-5351-0FD3-A1BA37F3D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Exhibit your </a:t>
            </a:r>
          </a:p>
          <a:p>
            <a:pPr lvl="1"/>
            <a:r>
              <a:rPr lang="en-US" dirty="0"/>
              <a:t>Kanban Board </a:t>
            </a:r>
          </a:p>
          <a:p>
            <a:pPr lvl="1"/>
            <a:r>
              <a:rPr lang="en-US" dirty="0"/>
              <a:t>Burndown Chart </a:t>
            </a:r>
          </a:p>
          <a:p>
            <a:pPr lvl="1"/>
            <a:r>
              <a:rPr lang="en-US" dirty="0"/>
              <a:t>Progress Tracking</a:t>
            </a:r>
          </a:p>
          <a:p>
            <a:pPr lvl="1"/>
            <a:r>
              <a:rPr lang="en-US" dirty="0"/>
              <a:t>Briefly highlight any changes and deviation from original plan.</a:t>
            </a:r>
          </a:p>
          <a:p>
            <a:pPr lvl="1"/>
            <a:r>
              <a:rPr lang="en-US" dirty="0"/>
              <a:t>Show revised plan/tracking chart as well</a:t>
            </a:r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0D393-1548-86B5-DF6D-BA0E0A9A8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F3DB1F3-C295-4D7C-99AC-960BC1AA1C64}" type="slidenum">
              <a:rPr lang="aa-ET" smtClean="0"/>
              <a:pPr/>
              <a:t>6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484529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72FAF-0029-4E1B-A1BD-02774B7BC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Functional Requirements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2490B-BC84-40AF-ADB1-9167E0745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Model your Functional Requirements in the form of</a:t>
            </a:r>
          </a:p>
          <a:p>
            <a:pPr lvl="1"/>
            <a:r>
              <a:rPr lang="en-US" dirty="0"/>
              <a:t>	High level system architecture (Describe how the design changed as you worked)		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F3DB1F3-C295-4D7C-99AC-960BC1AA1C64}" type="slidenum">
              <a:rPr lang="aa-ET" smtClean="0"/>
              <a:pPr/>
              <a:t>7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160855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72FAF-0029-4E1B-A1BD-02774B7BC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Class Diagrams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F3DB1F3-C295-4D7C-99AC-960BC1AA1C64}" type="slidenum">
              <a:rPr lang="aa-ET" smtClean="0"/>
              <a:pPr/>
              <a:t>8</a:t>
            </a:fld>
            <a:endParaRPr lang="aa-ET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5F4542-7C66-7762-843E-4C1B81B2D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705" y="429842"/>
            <a:ext cx="6901014" cy="606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000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72FAF-0029-4E1B-A1BD-02774B7BC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Use-Case Diagrams</a:t>
            </a:r>
            <a:endParaRPr lang="aa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F3DB1F3-C295-4D7C-99AC-960BC1AA1C64}" type="slidenum">
              <a:rPr lang="aa-ET" smtClean="0"/>
              <a:pPr/>
              <a:t>9</a:t>
            </a:fld>
            <a:endParaRPr lang="aa-E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BD8538-C439-B353-F54C-BD33CA9D4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013" y="136525"/>
            <a:ext cx="5940600" cy="652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18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72FAF-0029-4E1B-A1BD-02774B7BC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Sequence Diagram</a:t>
            </a:r>
            <a:endParaRPr lang="aa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F3DB1F3-C295-4D7C-99AC-960BC1AA1C64}" type="slidenum">
              <a:rPr lang="aa-ET" smtClean="0"/>
              <a:pPr/>
              <a:t>10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430818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72FAF-0029-4E1B-A1BD-02774B7BC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Sequence Diagram</a:t>
            </a:r>
            <a:endParaRPr lang="aa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F3DB1F3-C295-4D7C-99AC-960BC1AA1C64}" type="slidenum">
              <a:rPr lang="aa-ET" smtClean="0"/>
              <a:pPr/>
              <a:t>11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95690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72FAF-0029-4E1B-A1BD-02774B7BC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Sequence Diagram</a:t>
            </a:r>
            <a:endParaRPr lang="aa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F3DB1F3-C295-4D7C-99AC-960BC1AA1C64}" type="slidenum">
              <a:rPr lang="aa-ET" smtClean="0"/>
              <a:pPr/>
              <a:t>12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157836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72FAF-0029-4E1B-A1BD-02774B7BC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Sequence Diagram</a:t>
            </a:r>
            <a:endParaRPr lang="aa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F3DB1F3-C295-4D7C-99AC-960BC1AA1C64}" type="slidenum">
              <a:rPr lang="aa-ET" smtClean="0"/>
              <a:pPr/>
              <a:t>13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896563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72FAF-0029-4E1B-A1BD-02774B7BC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ER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F3DB1F3-C295-4D7C-99AC-960BC1AA1C64}" type="slidenum">
              <a:rPr lang="aa-ET" smtClean="0"/>
              <a:pPr/>
              <a:t>14</a:t>
            </a:fld>
            <a:endParaRPr lang="aa-ET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E22FE0-D393-B905-DD46-2256E35AB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656" y="0"/>
            <a:ext cx="7160560" cy="635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949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A0C87-F870-E41A-7A40-FA1835442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4CEA5-9175-6A68-59FA-DA93FCFCA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GB" dirty="0"/>
              <a:t>UI/UX </a:t>
            </a:r>
            <a:r>
              <a:rPr lang="en-GB" dirty="0" err="1"/>
              <a:t>mockups</a:t>
            </a:r>
            <a:r>
              <a:rPr lang="en-GB" dirty="0"/>
              <a:t>/flow of remaining modules</a:t>
            </a:r>
          </a:p>
          <a:p>
            <a:pPr lvl="1"/>
            <a:r>
              <a:rPr lang="en-GB" dirty="0"/>
              <a:t>API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02DB4-A81B-B0B7-3068-32B94C577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aa-ET" smtClean="0"/>
              <a:t>15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041457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A0C87-F870-E41A-7A40-FA1835442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4CEA5-9175-6A68-59FA-DA93FCFCA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GB" dirty="0"/>
              <a:t>Flow of modules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02DB4-A81B-B0B7-3068-32B94C577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aa-ET" smtClean="0"/>
              <a:t>16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410565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A0C87-F870-E41A-7A40-FA1835442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4CEA5-9175-6A68-59FA-DA93FCFCA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690"/>
            <a:ext cx="10515600" cy="4835273"/>
          </a:xfrm>
        </p:spPr>
        <p:txBody>
          <a:bodyPr/>
          <a:lstStyle/>
          <a:p>
            <a:pPr lvl="1"/>
            <a:r>
              <a:rPr lang="en-GB" dirty="0"/>
              <a:t>API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02DB4-A81B-B0B7-3068-32B94C577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aa-ET" smtClean="0"/>
              <a:t>17</a:t>
            </a:fld>
            <a:endParaRPr lang="aa-ET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AD1C9B-1500-5E1C-2716-D739C3146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391941"/>
              </p:ext>
            </p:extLst>
          </p:nvPr>
        </p:nvGraphicFramePr>
        <p:xfrm>
          <a:off x="2237099" y="1751888"/>
          <a:ext cx="8128000" cy="4437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507554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8295889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7627846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05642576"/>
                    </a:ext>
                  </a:extLst>
                </a:gridCol>
              </a:tblGrid>
              <a:tr h="27346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Endpoint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45107150"/>
                  </a:ext>
                </a:extLst>
              </a:tr>
              <a:tr h="37481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/api/auth/register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POST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{name, email, password, role}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User registration confirmation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5021218"/>
                  </a:ext>
                </a:extLst>
              </a:tr>
              <a:tr h="37481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/api/auth/login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POST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{email, password}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Authentication token + user details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7658405"/>
                  </a:ext>
                </a:extLst>
              </a:tr>
              <a:tr h="37481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/api/auth/profile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userId, name, phone, address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Updated user profile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6167326"/>
                  </a:ext>
                </a:extLst>
              </a:tr>
              <a:tr h="61613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/api/pets 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POST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ownerId, name, species, breed, ageMonths, weightKg, imageUrl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Pet profile creation confirmation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2860595"/>
                  </a:ext>
                </a:extLst>
              </a:tr>
              <a:tr h="37481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/api/pets 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ownerId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List of owned pet profiles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6049860"/>
                  </a:ext>
                </a:extLst>
              </a:tr>
              <a:tr h="462101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/api/listings 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POST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petId, sellerId, type, price, description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Marketplace listing creation confirmation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2072799"/>
                  </a:ext>
                </a:extLst>
              </a:tr>
              <a:tr h="462101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/api/listings 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type, category, search, location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List of matching active listings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955666"/>
                  </a:ext>
                </a:extLst>
              </a:tr>
              <a:tr h="37481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/api/listings/{id}/status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listingId, status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Updated listing details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5416227"/>
                  </a:ext>
                </a:extLst>
              </a:tr>
              <a:tr h="37481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/api/shelters/bookings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POST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petOwnerId, providerId, petId, startDate, endDate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Booking request confirmation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7438660"/>
                  </a:ext>
                </a:extLst>
              </a:tr>
              <a:tr h="37481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/api/shelters/bookings/pending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providerId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Pending boarding requests</a:t>
                      </a:r>
                      <a:endParaRPr lang="en-US" sz="12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2082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429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A0C87-F870-E41A-7A40-FA1835442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4CEA5-9175-6A68-59FA-DA93FCFCA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690"/>
            <a:ext cx="10515600" cy="4835273"/>
          </a:xfrm>
        </p:spPr>
        <p:txBody>
          <a:bodyPr/>
          <a:lstStyle/>
          <a:p>
            <a:pPr lvl="1"/>
            <a:r>
              <a:rPr lang="en-GB" dirty="0"/>
              <a:t>API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02DB4-A81B-B0B7-3068-32B94C577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B1F3-C295-4D7C-99AC-960BC1AA1C64}" type="slidenum">
              <a:rPr lang="aa-ET" smtClean="0"/>
              <a:t>18</a:t>
            </a:fld>
            <a:endParaRPr lang="aa-ET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AD1C9B-1500-5E1C-2716-D739C3146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69549"/>
              </p:ext>
            </p:extLst>
          </p:nvPr>
        </p:nvGraphicFramePr>
        <p:xfrm>
          <a:off x="2237099" y="1751888"/>
          <a:ext cx="8128000" cy="47670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507554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8295889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7627846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05642576"/>
                    </a:ext>
                  </a:extLst>
                </a:gridCol>
              </a:tblGrid>
              <a:tr h="27346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Endpoint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45107150"/>
                  </a:ext>
                </a:extLst>
              </a:tr>
              <a:tr h="37481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/api/shelters/bookings/{id}/status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PATCH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bookingId, status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Updated booking status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5021218"/>
                  </a:ext>
                </a:extLst>
              </a:tr>
              <a:tr h="37481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/api/products 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category, search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List of matching shop products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7658405"/>
                  </a:ext>
                </a:extLst>
              </a:tr>
              <a:tr h="37481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/api/admin/products 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POST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name, description, price, stock, category, imageUrls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 creation confirmation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6167326"/>
                  </a:ext>
                </a:extLst>
              </a:tr>
              <a:tr h="61613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/api/admin/products/{id}/stock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PATCH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productId, stock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Updated product inventory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2860595"/>
                  </a:ext>
                </a:extLst>
              </a:tr>
              <a:tr h="37481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/api/orders/checkout 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POST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cartId, shippingAddress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Stripe Payment Intent clientSecret + orderId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6049860"/>
                  </a:ext>
                </a:extLst>
              </a:tr>
              <a:tr h="462101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/api/orders/confirm-payment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POST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orderId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Payment confirmation status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2072799"/>
                  </a:ext>
                </a:extLst>
              </a:tr>
              <a:tr h="462101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/api/chatbot/message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POST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message, sessionId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AI reply message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955666"/>
                  </a:ext>
                </a:extLst>
              </a:tr>
              <a:tr h="37481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/api/clinics/nearby 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latitude, longitude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List of nearby veterinary clinics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5416227"/>
                  </a:ext>
                </a:extLst>
              </a:tr>
              <a:tr h="37481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/api/notifications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userId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List of active notifications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7438660"/>
                  </a:ext>
                </a:extLst>
              </a:tr>
              <a:tr h="37481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/api/logout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POST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userId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Logout confirmation</a:t>
                      </a:r>
                      <a:endParaRPr lang="en-US" sz="12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2082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314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F5990-94E8-419D-BC76-C8FDB0398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lvl="0"/>
            <a:r>
              <a:rPr lang="en-US" dirty="0"/>
              <a:t>Revised Plans &amp; Risk Analysis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FCB93-2CAF-41E0-A885-E36927941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1"/>
            <a:r>
              <a:rPr lang="en-US" dirty="0"/>
              <a:t>Identify risks encountered and mitigation plans.</a:t>
            </a:r>
          </a:p>
          <a:p>
            <a:pPr lvl="1"/>
            <a:r>
              <a:rPr lang="en-US" dirty="0"/>
              <a:t>Show Project Enhancements &amp; Revised </a:t>
            </a:r>
            <a:r>
              <a:rPr lang="en-US"/>
              <a:t>Project Plan</a:t>
            </a:r>
            <a:endParaRPr lang="en-GB"/>
          </a:p>
          <a:p>
            <a:pPr marL="457200" lvl="1" indent="0">
              <a:buNone/>
            </a:pPr>
            <a:endParaRPr lang="aa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F3DB1F3-C295-4D7C-99AC-960BC1AA1C64}" type="slidenum">
              <a:rPr lang="aa-ET" smtClean="0"/>
              <a:pPr/>
              <a:t>19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33300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6F34A-5E4E-A616-B050-CD295B040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Non-Functional/ Quality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DF0FF-36B6-55C7-C897-0A6F7A1AC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Measurable Attributes and Testing:</a:t>
            </a:r>
            <a:endParaRPr lang="en-US" sz="1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Reliability:</a:t>
            </a: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99% uptime; daily database backups.</a:t>
            </a:r>
          </a:p>
          <a:p>
            <a:pPr marL="1143000" lvl="2" indent="-228600" algn="just">
              <a:buFont typeface="Arial" panose="020B0604020202020204" pitchFamily="34" charset="0"/>
              <a:buChar char="•"/>
            </a:pPr>
            <a:r>
              <a:rPr lang="en-US" sz="18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Simulate server failure to check recovery time; verify backup restoration.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API response &lt;500ms for 95% of requests; app loads initial view in under 3 seconds.</a:t>
            </a:r>
          </a:p>
          <a:p>
            <a:pPr marL="1143000" lvl="2" indent="-228600" algn="just">
              <a:buFont typeface="Arial" panose="020B0604020202020204" pitchFamily="34" charset="0"/>
              <a:buChar char="•"/>
            </a:pPr>
            <a:r>
              <a:rPr lang="en-US" sz="18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Load testing with tools like JMeter to simulate 50 concurrent users.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User passwords hashed (</a:t>
            </a:r>
            <a:r>
              <a:rPr lang="en-US" sz="1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JWT for session management; HTTPS encryption.</a:t>
            </a:r>
          </a:p>
          <a:p>
            <a:pPr marL="1143000" lvl="2" indent="-228600" algn="just">
              <a:buFont typeface="Arial" panose="020B0604020202020204" pitchFamily="34" charset="0"/>
              <a:buChar char="•"/>
            </a:pPr>
            <a:r>
              <a:rPr lang="en-US" sz="18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Test for input attempt unauthorized API access; verify JWT expiry.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Usability:</a:t>
            </a: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Consistent interface across web and mobile; intuitive navigation.</a:t>
            </a:r>
          </a:p>
          <a:p>
            <a:pPr marL="1143000" lvl="2" indent="-228600" algn="just">
              <a:buFont typeface="Arial" panose="020B0604020202020204" pitchFamily="34" charset="0"/>
              <a:buChar char="•"/>
            </a:pPr>
            <a:r>
              <a:rPr lang="en-US" sz="18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Conduct user acceptance testing (UAT) with target users to ensure ease of use.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Maintainability:</a:t>
            </a: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Modular codebase with consistent naming and documentation.</a:t>
            </a:r>
          </a:p>
          <a:p>
            <a:pPr marL="1143000" lvl="2" indent="-228600" algn="just">
              <a:buFont typeface="Arial" panose="020B0604020202020204" pitchFamily="34" charset="0"/>
              <a:buChar char="•"/>
            </a:pPr>
            <a:r>
              <a:rPr lang="en-US" sz="18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Code review processes to ensure adherence to standards.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62BB0-B52D-AAF2-C141-85301015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F3DB1F3-C295-4D7C-99AC-960BC1AA1C64}" type="slidenum">
              <a:rPr lang="aa-ET" smtClean="0"/>
              <a:pPr/>
              <a:t>20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513244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1918F-28D5-4B97-B3EF-F71D3AE0C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Conclusion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A2A37-65DF-4CA9-82F9-AC8B7B783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1"/>
            <a:r>
              <a:rPr lang="en-US" dirty="0"/>
              <a:t>Explicitly mention your progress and future targets</a:t>
            </a:r>
            <a:endParaRPr lang="aa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F3DB1F3-C295-4D7C-99AC-960BC1AA1C64}" type="slidenum">
              <a:rPr lang="aa-ET" smtClean="0"/>
              <a:pPr/>
              <a:t>21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700419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FA62-FC45-47AC-A979-E2B40A6F4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Thanks Slides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6F485-E1FE-4BE3-8543-3B6287A77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Q&amp;A Session</a:t>
            </a:r>
            <a:endParaRPr lang="aa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F3DB1F3-C295-4D7C-99AC-960BC1AA1C64}" type="slidenum">
              <a:rPr lang="aa-ET" smtClean="0"/>
              <a:pPr/>
              <a:t>22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452377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</TotalTime>
  <Words>1009</Words>
  <Application>Microsoft Office PowerPoint</Application>
  <PresentationFormat>Widescreen</PresentationFormat>
  <Paragraphs>250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Black</vt:lpstr>
      <vt:lpstr>Calibri</vt:lpstr>
      <vt:lpstr>Calibri Light</vt:lpstr>
      <vt:lpstr>Times</vt:lpstr>
      <vt:lpstr>Times New Roman</vt:lpstr>
      <vt:lpstr>Office Theme</vt:lpstr>
      <vt:lpstr>Project Title </vt:lpstr>
      <vt:lpstr>Project Team Introduction</vt:lpstr>
      <vt:lpstr>Introduction and Background of the Project</vt:lpstr>
      <vt:lpstr>Introduction and Background of the Project</vt:lpstr>
      <vt:lpstr>Agile Framework Setup</vt:lpstr>
      <vt:lpstr>Sprint Planning &amp; Sprint Backlog</vt:lpstr>
      <vt:lpstr>Functional Requirements</vt:lpstr>
      <vt:lpstr>Class Diagrams</vt:lpstr>
      <vt:lpstr>Use-Case Diagrams</vt:lpstr>
      <vt:lpstr>Sequence Diagram</vt:lpstr>
      <vt:lpstr>Sequence Diagram</vt:lpstr>
      <vt:lpstr>Sequence Diagram</vt:lpstr>
      <vt:lpstr>Sequence Diagram</vt:lpstr>
      <vt:lpstr>ER Model</vt:lpstr>
      <vt:lpstr>Prototypes</vt:lpstr>
      <vt:lpstr>Prototypes</vt:lpstr>
      <vt:lpstr>Prototypes</vt:lpstr>
      <vt:lpstr>Prototypes</vt:lpstr>
      <vt:lpstr>Revised Plans &amp; Risk Analysis</vt:lpstr>
      <vt:lpstr>Non-Functional/ Quality Attributes</vt:lpstr>
      <vt:lpstr>Conclusion</vt:lpstr>
      <vt:lpstr>Thanks Slides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Dr Hafiz Mahfooz Ul Haque</dc:creator>
  <cp:lastModifiedBy>L1F22BSSE0286- NABEEL IJAZ</cp:lastModifiedBy>
  <cp:revision>61</cp:revision>
  <dcterms:created xsi:type="dcterms:W3CDTF">2025-11-25T11:24:44Z</dcterms:created>
  <dcterms:modified xsi:type="dcterms:W3CDTF">2026-06-18T12:01:05Z</dcterms:modified>
</cp:coreProperties>
</file>